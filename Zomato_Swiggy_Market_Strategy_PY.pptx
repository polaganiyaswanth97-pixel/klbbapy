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1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">
              <a:srgbClr val="FF0000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1234440"/>
            <a:ext cx="107899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Zomato / Swiggy</a:t>
            </a:r>
            <a:br/>
            <a:r>
              <a:t>Market Strategy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0632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An economics-based study of demand, consumer behaviour, costs, competition, pricing and gig workers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5678CEE-21EC-4A81-602B-5433863EE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4160521"/>
            <a:ext cx="1972559" cy="1987795"/>
          </a:xfrm>
        </p:spPr>
        <p:txBody>
          <a:bodyPr>
            <a:noAutofit/>
          </a:bodyPr>
          <a:lstStyle/>
          <a:p>
            <a:pPr algn="l"/>
            <a:r>
              <a:rPr lang="en-IN" sz="2400" dirty="0"/>
              <a:t>Team:</a:t>
            </a:r>
            <a:br>
              <a:rPr lang="en-IN" sz="2400" dirty="0"/>
            </a:br>
            <a:r>
              <a:rPr lang="en-IN" sz="2400" dirty="0"/>
              <a:t>P. Yaswanth</a:t>
            </a:r>
            <a:br>
              <a:rPr lang="en-IN" sz="2400" dirty="0"/>
            </a:br>
            <a:r>
              <a:rPr lang="en-IN" sz="2400" dirty="0"/>
              <a:t>K. Karthik</a:t>
            </a:r>
            <a:br>
              <a:rPr lang="en-IN" sz="2400" dirty="0"/>
            </a:br>
            <a:r>
              <a:rPr lang="en-IN" sz="2400" dirty="0"/>
              <a:t>J. Karthik</a:t>
            </a:r>
            <a:br>
              <a:rPr lang="en-IN" sz="2400" dirty="0"/>
            </a:br>
            <a:r>
              <a:rPr lang="en-IN" sz="2400" dirty="0"/>
              <a:t>Prajwal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1. What is our topic?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We will study the food-delivery market using Zomato and Swiggy as real-world examples.</a:t>
            </a:r>
          </a:p>
          <a:p>
            <a:pPr>
              <a:spcAft>
                <a:spcPts val="1200"/>
              </a:spcAft>
              <a:defRPr sz="2000"/>
            </a:pPr>
            <a:r>
              <a:t>We will connect economic theory with actual platform decisions.</a:t>
            </a:r>
          </a:p>
          <a:p>
            <a:pPr>
              <a:spcAft>
                <a:spcPts val="1200"/>
              </a:spcAft>
              <a:defRPr sz="2000"/>
            </a:pPr>
            <a:r>
              <a:t>The project will ultimately become a Python-based simulation.</a:t>
            </a:r>
          </a:p>
          <a:p>
            <a:pPr>
              <a:spcAft>
                <a:spcPts val="1200"/>
              </a:spcAft>
              <a:defRPr sz="2000"/>
            </a:pPr>
            <a:r>
              <a:t>We will examine what happens when price, demand, capacity and competition change.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2. Why did we choose this topic?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It is a market we use in everyday life, so the economic concepts are easy to relate to.</a:t>
            </a:r>
          </a:p>
          <a:p>
            <a:pPr>
              <a:spcAft>
                <a:spcPts val="1200"/>
              </a:spcAft>
              <a:defRPr sz="2000"/>
            </a:pPr>
            <a:r>
              <a:t>Zomato and Swiggy provide a strong example of platform competition and oligopoly.</a:t>
            </a:r>
          </a:p>
          <a:p>
            <a:pPr>
              <a:spcAft>
                <a:spcPts val="1200"/>
              </a:spcAft>
              <a:defRPr sz="2000"/>
            </a:pPr>
            <a:r>
              <a:t>One market lets us combine several economics concepts in a single project.</a:t>
            </a:r>
          </a:p>
          <a:p>
            <a:pPr>
              <a:spcAft>
                <a:spcPts val="1200"/>
              </a:spcAft>
              <a:defRPr sz="2000"/>
            </a:pPr>
            <a:r>
              <a:t>The topic also has a social dimension because delivery partners are part of the business model.</a:t>
            </a:r>
          </a:p>
          <a:p>
            <a:pPr>
              <a:spcAft>
                <a:spcPts val="1200"/>
              </a:spcAft>
              <a:defRPr sz="2000"/>
            </a:pPr>
            <a:r>
              <a:t>It gives us a practical opportunity to use Python for simulation and visualization.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663463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/>
              <a:t>3</a:t>
            </a:r>
            <a:r>
              <a:rPr lang="en-IN" sz="2800" b="1" dirty="0"/>
              <a:t>. The Topics that we are incorporating are:</a:t>
            </a:r>
            <a:endParaRPr sz="28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CO1 — Demand elasticity: How do price changes affect the number of orders?</a:t>
            </a:r>
          </a:p>
          <a:p>
            <a:pPr>
              <a:spcAft>
                <a:spcPts val="1200"/>
              </a:spcAft>
              <a:defRPr sz="1700"/>
            </a:pPr>
            <a:r>
              <a:t>CO2 — Consumer behaviour: Do defaults, tips, discounts and recommendations change choices?</a:t>
            </a:r>
          </a:p>
          <a:p>
            <a:pPr>
              <a:spcAft>
                <a:spcPts val="1200"/>
              </a:spcAft>
              <a:defRPr sz="1700"/>
            </a:pPr>
            <a:r>
              <a:t>CO3 — Capacity &amp; costs: What happens when kitchens or delivery capacity become constrained?</a:t>
            </a:r>
          </a:p>
          <a:p>
            <a:pPr>
              <a:spcAft>
                <a:spcPts val="1200"/>
              </a:spcAft>
              <a:defRPr sz="1700"/>
            </a:pPr>
            <a:r>
              <a:t>CO4 — Game theory: How might Zomato and Swiggy respond to each other's pricing?</a:t>
            </a:r>
          </a:p>
          <a:p>
            <a:pPr>
              <a:spcAft>
                <a:spcPts val="1200"/>
              </a:spcAft>
              <a:defRPr sz="1700"/>
            </a:pPr>
            <a:r>
              <a:t>CO5 — Dynamic pricing: How should delivery prices respond to demand and rider availability?</a:t>
            </a:r>
          </a:p>
          <a:p>
            <a:pPr>
              <a:spcAft>
                <a:spcPts val="1200"/>
              </a:spcAft>
              <a:defRPr sz="1700"/>
            </a:pPr>
            <a:r>
              <a:t>CO6 — Externalities &amp; regulation: What are the effects and risks for gig workers?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4. Information &amp; data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Zomato and Swiggy annual reports, investor presentations and financial disclosures.</a:t>
            </a:r>
          </a:p>
          <a:p>
            <a:pPr>
              <a:spcAft>
                <a:spcPts val="1200"/>
              </a:spcAft>
              <a:defRPr sz="2000"/>
            </a:pPr>
            <a:r>
              <a:t>Government and policy sources, especially NITI Aayog material on the gig/platform economy.</a:t>
            </a:r>
          </a:p>
          <a:p>
            <a:pPr>
              <a:spcAft>
                <a:spcPts val="1200"/>
              </a:spcAft>
              <a:defRPr sz="2000"/>
            </a:pPr>
            <a:r>
              <a:t>Academic research papers on elasticity, platform economics, dynamic pricing and gig work.</a:t>
            </a:r>
          </a:p>
          <a:p>
            <a:pPr>
              <a:spcAft>
                <a:spcPts val="1200"/>
              </a:spcAft>
              <a:defRPr sz="2000"/>
            </a:pPr>
            <a:r>
              <a:t>Publicly observable platform information such as delivery fees, offers, prices and delivery times.</a:t>
            </a:r>
          </a:p>
          <a:p>
            <a:pPr>
              <a:spcAft>
                <a:spcPts val="1200"/>
              </a:spcAft>
              <a:defRPr sz="2000"/>
            </a:pPr>
            <a:r>
              <a:t>Where real data is unavailable, we will use clearly stated assumptions for the simulation.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5. How will Python be used?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Create simulated customers with different price sensitivities.</a:t>
            </a:r>
          </a:p>
          <a:p>
            <a:pPr>
              <a:spcAft>
                <a:spcPts val="1200"/>
              </a:spcAft>
              <a:defRPr sz="1700"/>
            </a:pPr>
            <a:r>
              <a:t>Estimate and visualize demand elasticity.</a:t>
            </a:r>
          </a:p>
          <a:p>
            <a:pPr>
              <a:spcAft>
                <a:spcPts val="1200"/>
              </a:spcAft>
              <a:defRPr sz="1700"/>
            </a:pPr>
            <a:r>
              <a:t>Compare customer behaviour under different tipping/default scenarios.</a:t>
            </a:r>
          </a:p>
          <a:p>
            <a:pPr>
              <a:spcAft>
                <a:spcPts val="1200"/>
              </a:spcAft>
              <a:defRPr sz="1700"/>
            </a:pPr>
            <a:r>
              <a:t>Model fixed cost, variable cost, marginal cost and capacity utilization.</a:t>
            </a:r>
          </a:p>
          <a:p>
            <a:pPr>
              <a:spcAft>
                <a:spcPts val="1200"/>
              </a:spcAft>
              <a:defRPr sz="1700"/>
            </a:pPr>
            <a:r>
              <a:t>Build a Zomato–Swiggy payoff matrix and test pricing strategies.</a:t>
            </a:r>
          </a:p>
          <a:p>
            <a:pPr>
              <a:spcAft>
                <a:spcPts val="1200"/>
              </a:spcAft>
              <a:defRPr sz="1700"/>
            </a:pPr>
            <a:r>
              <a:t>Simulate dynamic pricing under changing demand and rider availability.</a:t>
            </a:r>
          </a:p>
          <a:p>
            <a:pPr>
              <a:spcAft>
                <a:spcPts val="1200"/>
              </a:spcAft>
              <a:defRPr sz="1700"/>
            </a:pPr>
            <a:r>
              <a:t>Generate graphs for demand, revenue, market share, profit and worker outcomes.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6. Example: the economic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Delivery fee increases</a:t>
            </a:r>
          </a:p>
          <a:p>
            <a:pPr>
              <a:spcAft>
                <a:spcPts val="1200"/>
              </a:spcAft>
              <a:defRPr sz="1800"/>
            </a:pPr>
            <a:r>
              <a:t>↓</a:t>
            </a:r>
          </a:p>
          <a:p>
            <a:pPr>
              <a:spcAft>
                <a:spcPts val="1200"/>
              </a:spcAft>
              <a:defRPr sz="1800"/>
            </a:pPr>
            <a:r>
              <a:t>Customer demand changes</a:t>
            </a:r>
          </a:p>
          <a:p>
            <a:pPr>
              <a:spcAft>
                <a:spcPts val="1200"/>
              </a:spcAft>
              <a:defRPr sz="1800"/>
            </a:pPr>
            <a:r>
              <a:t>↓</a:t>
            </a:r>
          </a:p>
          <a:p>
            <a:pPr>
              <a:spcAft>
                <a:spcPts val="1200"/>
              </a:spcAft>
              <a:defRPr sz="1800"/>
            </a:pPr>
            <a:r>
              <a:t>Orders affect kitchen and rider utilization</a:t>
            </a:r>
          </a:p>
          <a:p>
            <a:pPr>
              <a:spcAft>
                <a:spcPts val="1200"/>
              </a:spcAft>
              <a:defRPr sz="1800"/>
            </a:pPr>
            <a:r>
              <a:t>↓</a:t>
            </a:r>
          </a:p>
          <a:p>
            <a:pPr>
              <a:spcAft>
                <a:spcPts val="1200"/>
              </a:spcAft>
              <a:defRPr sz="1800"/>
            </a:pPr>
            <a:r>
              <a:t>Delivery time and costs change</a:t>
            </a:r>
          </a:p>
          <a:p>
            <a:pPr>
              <a:spcAft>
                <a:spcPts val="1200"/>
              </a:spcAft>
              <a:defRPr sz="1800"/>
            </a:pPr>
            <a:r>
              <a:t>↓</a:t>
            </a:r>
          </a:p>
          <a:p>
            <a:pPr>
              <a:spcAft>
                <a:spcPts val="1200"/>
              </a:spcAft>
              <a:defRPr sz="1800"/>
            </a:pPr>
            <a:r>
              <a:t>Zomato/Swiggy market share and profit change</a:t>
            </a:r>
          </a:p>
          <a:p>
            <a:pPr>
              <a:spcAft>
                <a:spcPts val="1200"/>
              </a:spcAft>
              <a:defRPr sz="1800"/>
            </a:pPr>
            <a:r>
              <a:t>↓</a:t>
            </a:r>
          </a:p>
          <a:p>
            <a:pPr>
              <a:spcAft>
                <a:spcPts val="1200"/>
              </a:spcAft>
              <a:defRPr sz="1800"/>
            </a:pPr>
            <a:r>
              <a:t>Worker welfare and regulatory exposure may also change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7. Expected final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A Python-based simulation of the Zomato–Swiggy market.</a:t>
            </a:r>
          </a:p>
          <a:p>
            <a:pPr>
              <a:spcAft>
                <a:spcPts val="1200"/>
              </a:spcAft>
              <a:defRPr sz="2000"/>
            </a:pPr>
            <a:r>
              <a:t>Scenario testing: price changes, promotions, capacity constraints and competitor responses.</a:t>
            </a:r>
          </a:p>
          <a:p>
            <a:pPr>
              <a:spcAft>
                <a:spcPts val="1200"/>
              </a:spcAft>
              <a:defRPr sz="2000"/>
            </a:pPr>
            <a:r>
              <a:t>Graphs and dashboards showing demand, revenue, market share, costs and profit.</a:t>
            </a:r>
          </a:p>
          <a:p>
            <a:pPr>
              <a:spcAft>
                <a:spcPts val="1200"/>
              </a:spcAft>
              <a:defRPr sz="2000"/>
            </a:pPr>
            <a:r>
              <a:t>A comparison of business outcomes with consumer and worker impacts.</a:t>
            </a:r>
          </a:p>
          <a:p>
            <a:pPr>
              <a:spcAft>
                <a:spcPts val="1200"/>
              </a:spcAft>
              <a:defRPr sz="2000"/>
            </a:pPr>
            <a:r>
              <a:t>A final review linking the simulation results back to economic theory.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8. Main research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1143" y="1828800"/>
            <a:ext cx="11607793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/>
            </a:pPr>
            <a:r>
              <a:rPr lang="en-US" dirty="0"/>
              <a:t>How can economic theory and Python-based simulation be used to understand </a:t>
            </a:r>
            <a:br>
              <a:rPr lang="en-US" dirty="0"/>
            </a:br>
            <a:r>
              <a:rPr lang="en-US" dirty="0"/>
              <a:t>and evaluate pricing and competitive strategies in India's food-delivery market?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9. Proposed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1. Collect secondary data and research literature</a:t>
            </a:r>
          </a:p>
          <a:p>
            <a:pPr>
              <a:spcAft>
                <a:spcPts val="1200"/>
              </a:spcAft>
              <a:defRPr sz="1800"/>
            </a:pPr>
            <a:r>
              <a:t>2. Define assumptions and variables</a:t>
            </a:r>
          </a:p>
          <a:p>
            <a:pPr>
              <a:spcAft>
                <a:spcPts val="1200"/>
              </a:spcAft>
              <a:defRPr sz="1800"/>
            </a:pPr>
            <a:r>
              <a:t>3. Build the economic equations/models</a:t>
            </a:r>
          </a:p>
          <a:p>
            <a:pPr>
              <a:spcAft>
                <a:spcPts val="1200"/>
              </a:spcAft>
              <a:defRPr sz="1800"/>
            </a:pPr>
            <a:r>
              <a:t>4. Implement the simulation in Python</a:t>
            </a:r>
          </a:p>
          <a:p>
            <a:pPr>
              <a:spcAft>
                <a:spcPts val="1200"/>
              </a:spcAft>
              <a:defRPr sz="1800"/>
            </a:pPr>
            <a:r>
              <a:t>5. Run alternative scenarios</a:t>
            </a:r>
          </a:p>
          <a:p>
            <a:pPr>
              <a:spcAft>
                <a:spcPts val="1200"/>
              </a:spcAft>
              <a:defRPr sz="1800"/>
            </a:pPr>
            <a:r>
              <a:t>6. Visualize results</a:t>
            </a:r>
          </a:p>
          <a:p>
            <a:pPr>
              <a:spcAft>
                <a:spcPts val="1200"/>
              </a:spcAft>
              <a:defRPr sz="1800"/>
            </a:pPr>
            <a:r>
              <a:t>7. Interpret results using economic theory</a:t>
            </a:r>
          </a:p>
          <a:p>
            <a:pPr>
              <a:spcAft>
                <a:spcPts val="1200"/>
              </a:spcAft>
              <a:defRPr sz="1800"/>
            </a:pPr>
            <a:r>
              <a:t>8. Prepare final conclusions and recommendations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10. Key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This topic lets us turn familiar food-delivery apps into a complete economics case study.</a:t>
            </a:r>
          </a:p>
          <a:p>
            <a:pPr>
              <a:spcAft>
                <a:spcPts val="1200"/>
              </a:spcAft>
              <a:defRPr sz="2000"/>
            </a:pPr>
            <a:r>
              <a:t>The strength of the project is the integration of six COs rather than treating them separately.</a:t>
            </a:r>
          </a:p>
          <a:p>
            <a:pPr>
              <a:spcAft>
                <a:spcPts val="1200"/>
              </a:spcAft>
              <a:defRPr sz="2000"/>
            </a:pPr>
            <a:r>
              <a:t>Python will help us move from theory to measurable scenarios and visual results.</a:t>
            </a:r>
          </a:p>
          <a:p>
            <a:pPr>
              <a:spcAft>
                <a:spcPts val="1200"/>
              </a:spcAft>
              <a:defRPr sz="2000"/>
            </a:pPr>
            <a:r>
              <a:t>The final goal is to understand not only platform profit, but also customer, capacity and worker outcomes.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Initial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Zomato — Investor Relations / Annual Reports</a:t>
            </a:r>
          </a:p>
          <a:p>
            <a:pPr>
              <a:spcAft>
                <a:spcPts val="1200"/>
              </a:spcAft>
              <a:defRPr sz="1800"/>
            </a:pPr>
            <a:r>
              <a:t>Swiggy — Investor Relations / Annual Reports</a:t>
            </a:r>
          </a:p>
          <a:p>
            <a:pPr>
              <a:spcAft>
                <a:spcPts val="1200"/>
              </a:spcAft>
              <a:defRPr sz="1800"/>
            </a:pPr>
            <a:r>
              <a:t>NITI Aayog — India's Booming Gig and Platform Economy</a:t>
            </a:r>
          </a:p>
          <a:p>
            <a:pPr>
              <a:spcAft>
                <a:spcPts val="1200"/>
              </a:spcAft>
              <a:defRPr sz="1800"/>
            </a:pPr>
            <a:r>
              <a:t>Academic journals and working papers on food delivery, platform economics and gig work</a:t>
            </a:r>
          </a:p>
          <a:p>
            <a:pPr>
              <a:spcAft>
                <a:spcPts val="1200"/>
              </a:spcAft>
              <a:defRPr sz="1800"/>
            </a:pPr>
            <a:r>
              <a:t>Public platform information for illustrative price, fee and delivery observations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765</Words>
  <Application>Microsoft Office PowerPoint</Application>
  <PresentationFormat>Widescreen</PresentationFormat>
  <Paragraphs>75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Team: P. Yaswanth K. Karthik J. Karthik Prajwal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Harshith Lion</dc:creator>
  <cp:keywords/>
  <dc:description>generated using python-pptx</dc:description>
  <cp:lastModifiedBy>Harshith Lion</cp:lastModifiedBy>
  <cp:revision>2</cp:revision>
  <dcterms:created xsi:type="dcterms:W3CDTF">2013-01-27T09:14:16Z</dcterms:created>
  <dcterms:modified xsi:type="dcterms:W3CDTF">2026-10-13T03:36:56Z</dcterms:modified>
  <cp:category/>
</cp:coreProperties>
</file>